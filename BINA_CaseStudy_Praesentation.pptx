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966CC3-F3F0-43D0-B798-ED12BC7F3151}" v="2" dt="2026-04-12T10:05:53.051"/>
    <p1510:client id="{D4B9FC3C-68E4-8106-C0D6-A8EF5E8AA327}" v="135" dt="2026-04-12T12:46:26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eichenbacher Nelson I.MSCWI.2501" userId="S::nelson.bleichenbacher@stud.hslu.ch::82f17058-1f75-442b-ac33-2edd5effb7fb" providerId="AD" clId="Web-{D4B9FC3C-68E4-8106-C0D6-A8EF5E8AA327}"/>
    <pc:docChg chg="addSld modSld">
      <pc:chgData name="Bleichenbacher Nelson I.MSCWI.2501" userId="S::nelson.bleichenbacher@stud.hslu.ch::82f17058-1f75-442b-ac33-2edd5effb7fb" providerId="AD" clId="Web-{D4B9FC3C-68E4-8106-C0D6-A8EF5E8AA327}" dt="2026-04-12T12:46:24.003" v="128" actId="14100"/>
      <pc:docMkLst>
        <pc:docMk/>
      </pc:docMkLst>
      <pc:sldChg chg="modSp">
        <pc:chgData name="Bleichenbacher Nelson I.MSCWI.2501" userId="S::nelson.bleichenbacher@stud.hslu.ch::82f17058-1f75-442b-ac33-2edd5effb7fb" providerId="AD" clId="Web-{D4B9FC3C-68E4-8106-C0D6-A8EF5E8AA327}" dt="2026-04-12T10:40:23.026" v="3" actId="20577"/>
        <pc:sldMkLst>
          <pc:docMk/>
          <pc:sldMk cId="0" sldId="256"/>
        </pc:sldMkLst>
        <pc:spChg chg="mod">
          <ac:chgData name="Bleichenbacher Nelson I.MSCWI.2501" userId="S::nelson.bleichenbacher@stud.hslu.ch::82f17058-1f75-442b-ac33-2edd5effb7fb" providerId="AD" clId="Web-{D4B9FC3C-68E4-8106-C0D6-A8EF5E8AA327}" dt="2026-04-12T10:40:23.026" v="3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Bleichenbacher Nelson I.MSCWI.2501" userId="S::nelson.bleichenbacher@stud.hslu.ch::82f17058-1f75-442b-ac33-2edd5effb7fb" providerId="AD" clId="Web-{D4B9FC3C-68E4-8106-C0D6-A8EF5E8AA327}" dt="2026-04-12T10:57:34.888" v="12" actId="20577"/>
        <pc:sldMkLst>
          <pc:docMk/>
          <pc:sldMk cId="0" sldId="258"/>
        </pc:sldMkLst>
        <pc:spChg chg="mod">
          <ac:chgData name="Bleichenbacher Nelson I.MSCWI.2501" userId="S::nelson.bleichenbacher@stud.hslu.ch::82f17058-1f75-442b-ac33-2edd5effb7fb" providerId="AD" clId="Web-{D4B9FC3C-68E4-8106-C0D6-A8EF5E8AA327}" dt="2026-04-12T10:57:34.888" v="12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 add replId">
        <pc:chgData name="Bleichenbacher Nelson I.MSCWI.2501" userId="S::nelson.bleichenbacher@stud.hslu.ch::82f17058-1f75-442b-ac33-2edd5effb7fb" providerId="AD" clId="Web-{D4B9FC3C-68E4-8106-C0D6-A8EF5E8AA327}" dt="2026-04-12T12:46:24.003" v="128" actId="14100"/>
        <pc:sldMkLst>
          <pc:docMk/>
          <pc:sldMk cId="2252004811" sldId="266"/>
        </pc:sldMkLst>
        <pc:spChg chg="mod">
          <ac:chgData name="Bleichenbacher Nelson I.MSCWI.2501" userId="S::nelson.bleichenbacher@stud.hslu.ch::82f17058-1f75-442b-ac33-2edd5effb7fb" providerId="AD" clId="Web-{D4B9FC3C-68E4-8106-C0D6-A8EF5E8AA327}" dt="2026-04-12T12:39:07.544" v="21" actId="20577"/>
          <ac:spMkLst>
            <pc:docMk/>
            <pc:sldMk cId="2252004811" sldId="266"/>
            <ac:spMk id="2" creationId="{D71CC313-2BA8-EC34-348D-B589BFC239BB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29.842" v="38"/>
          <ac:spMkLst>
            <pc:docMk/>
            <pc:sldMk cId="2252004811" sldId="266"/>
            <ac:spMk id="4" creationId="{451D82A6-7671-2802-E679-18D9FBB60C41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22.716" v="37"/>
          <ac:spMkLst>
            <pc:docMk/>
            <pc:sldMk cId="2252004811" sldId="266"/>
            <ac:spMk id="5" creationId="{5F08D9F8-430A-B840-D526-12F19AF7830C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22.716" v="36"/>
          <ac:spMkLst>
            <pc:docMk/>
            <pc:sldMk cId="2252004811" sldId="266"/>
            <ac:spMk id="6" creationId="{4BF567CE-0AF5-AED5-0FF8-E149748DB77B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22.716" v="35"/>
          <ac:spMkLst>
            <pc:docMk/>
            <pc:sldMk cId="2252004811" sldId="266"/>
            <ac:spMk id="7" creationId="{5BF23022-434A-558D-4C5B-19DF60FF7C00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22.716" v="34"/>
          <ac:spMkLst>
            <pc:docMk/>
            <pc:sldMk cId="2252004811" sldId="266"/>
            <ac:spMk id="8" creationId="{DA197793-C029-177D-4A6D-479487C5349F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22.716" v="33"/>
          <ac:spMkLst>
            <pc:docMk/>
            <pc:sldMk cId="2252004811" sldId="266"/>
            <ac:spMk id="9" creationId="{C6793FD7-7E76-5048-FB30-A8C5D7CD262F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31"/>
          <ac:spMkLst>
            <pc:docMk/>
            <pc:sldMk cId="2252004811" sldId="266"/>
            <ac:spMk id="10" creationId="{F8E3FF83-964D-67A2-7D08-D4338F70CB71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30"/>
          <ac:spMkLst>
            <pc:docMk/>
            <pc:sldMk cId="2252004811" sldId="266"/>
            <ac:spMk id="11" creationId="{4A61DFB2-F964-117D-FA34-7025E5052AEE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9"/>
          <ac:spMkLst>
            <pc:docMk/>
            <pc:sldMk cId="2252004811" sldId="266"/>
            <ac:spMk id="12" creationId="{5617C19D-A735-6F02-36D3-D05CC6ACA7CE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8"/>
          <ac:spMkLst>
            <pc:docMk/>
            <pc:sldMk cId="2252004811" sldId="266"/>
            <ac:spMk id="13" creationId="{858CC9EA-65DC-6DAF-1B98-90F02A5D5751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7"/>
          <ac:spMkLst>
            <pc:docMk/>
            <pc:sldMk cId="2252004811" sldId="266"/>
            <ac:spMk id="14" creationId="{F75EC870-F990-8084-9698-373681F8FDA3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6"/>
          <ac:spMkLst>
            <pc:docMk/>
            <pc:sldMk cId="2252004811" sldId="266"/>
            <ac:spMk id="15" creationId="{E8BEA322-FB88-6BD3-EA62-31A5FC9F4D5C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5"/>
          <ac:spMkLst>
            <pc:docMk/>
            <pc:sldMk cId="2252004811" sldId="266"/>
            <ac:spMk id="16" creationId="{E8C2E522-F6B9-FD89-D551-5E7A1C86CDE1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4"/>
          <ac:spMkLst>
            <pc:docMk/>
            <pc:sldMk cId="2252004811" sldId="266"/>
            <ac:spMk id="17" creationId="{3214DF09-DCE6-2AC4-C009-7BF9FA3D37E3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3"/>
          <ac:spMkLst>
            <pc:docMk/>
            <pc:sldMk cId="2252004811" sldId="266"/>
            <ac:spMk id="18" creationId="{C1E15247-A926-2A09-733B-5E8AB90A65BB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6.154" v="22"/>
          <ac:spMkLst>
            <pc:docMk/>
            <pc:sldMk cId="2252004811" sldId="266"/>
            <ac:spMk id="19" creationId="{FC04B6F7-C0E1-4634-AC54-41E20A4703AC}"/>
          </ac:spMkLst>
        </pc:spChg>
        <pc:spChg chg="del">
          <ac:chgData name="Bleichenbacher Nelson I.MSCWI.2501" userId="S::nelson.bleichenbacher@stud.hslu.ch::82f17058-1f75-442b-ac33-2edd5effb7fb" providerId="AD" clId="Web-{D4B9FC3C-68E4-8106-C0D6-A8EF5E8AA327}" dt="2026-04-12T12:39:19.294" v="32"/>
          <ac:spMkLst>
            <pc:docMk/>
            <pc:sldMk cId="2252004811" sldId="266"/>
            <ac:spMk id="20" creationId="{362B210A-D6A6-8C2D-10B1-3ACF3EB263BD}"/>
          </ac:spMkLst>
        </pc:spChg>
        <pc:spChg chg="add mod">
          <ac:chgData name="Bleichenbacher Nelson I.MSCWI.2501" userId="S::nelson.bleichenbacher@stud.hslu.ch::82f17058-1f75-442b-ac33-2edd5effb7fb" providerId="AD" clId="Web-{D4B9FC3C-68E4-8106-C0D6-A8EF5E8AA327}" dt="2026-04-12T12:46:24.003" v="128" actId="14100"/>
          <ac:spMkLst>
            <pc:docMk/>
            <pc:sldMk cId="2252004811" sldId="266"/>
            <ac:spMk id="26" creationId="{86E51310-C0F9-49BE-98E0-FEC561B0D6B8}"/>
          </ac:spMkLst>
        </pc:spChg>
        <pc:picChg chg="add mod">
          <ac:chgData name="Bleichenbacher Nelson I.MSCWI.2501" userId="S::nelson.bleichenbacher@stud.hslu.ch::82f17058-1f75-442b-ac33-2edd5effb7fb" providerId="AD" clId="Web-{D4B9FC3C-68E4-8106-C0D6-A8EF5E8AA327}" dt="2026-04-12T12:44:59.190" v="93"/>
          <ac:picMkLst>
            <pc:docMk/>
            <pc:sldMk cId="2252004811" sldId="266"/>
            <ac:picMk id="24" creationId="{E225BBEF-B459-1330-4134-381812184D47}"/>
          </ac:picMkLst>
        </pc:picChg>
      </pc:sldChg>
    </pc:docChg>
  </pc:docChgLst>
  <pc:docChgLst>
    <pc:chgData name="Hofer Samuel I.MSCWI.2501" userId="1528fd2a-5ed8-4334-a4c7-65f74722da0d" providerId="ADAL" clId="{F626F90F-F99E-493C-B4A7-EE7F554848F9}"/>
    <pc:docChg chg="modSld">
      <pc:chgData name="Hofer Samuel I.MSCWI.2501" userId="1528fd2a-5ed8-4334-a4c7-65f74722da0d" providerId="ADAL" clId="{F626F90F-F99E-493C-B4A7-EE7F554848F9}" dt="2026-04-12T10:06:01.971" v="2" actId="20577"/>
      <pc:docMkLst>
        <pc:docMk/>
      </pc:docMkLst>
      <pc:sldChg chg="modSp mod">
        <pc:chgData name="Hofer Samuel I.MSCWI.2501" userId="1528fd2a-5ed8-4334-a4c7-65f74722da0d" providerId="ADAL" clId="{F626F90F-F99E-493C-B4A7-EE7F554848F9}" dt="2026-04-12T10:06:01.971" v="2" actId="20577"/>
        <pc:sldMkLst>
          <pc:docMk/>
          <pc:sldMk cId="0" sldId="258"/>
        </pc:sldMkLst>
        <pc:spChg chg="mod">
          <ac:chgData name="Hofer Samuel I.MSCWI.2501" userId="1528fd2a-5ed8-4334-a4c7-65f74722da0d" providerId="ADAL" clId="{F626F90F-F99E-493C-B4A7-EE7F554848F9}" dt="2026-04-12T10:06:01.971" v="2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031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53C2-DCF2-C7DA-445F-16DF7BD5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B3FB3-7AE7-9BDB-E6A9-24D60FBEC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C23D2-3CA7-7F23-202D-F8D78FC6A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AE47A-7D13-B656-50D1-383659AB54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5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800" noProof="0">
                <a:solidFill>
                  <a:srgbClr val="8F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</a:t>
            </a:r>
            <a:endParaRPr lang="de-CH" sz="1800" noProof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4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Benzinpreise &amp; Mobilität</a:t>
            </a:r>
            <a:endParaRPr lang="de-CH" sz="4800" noProof="0"/>
          </a:p>
          <a:p>
            <a:pPr marL="0" indent="0">
              <a:buNone/>
            </a:pPr>
            <a:r>
              <a:rPr lang="de-CH" sz="48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Stadt Basel</a:t>
            </a:r>
            <a:endParaRPr lang="de-CH" sz="4800" noProof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de-CH" sz="1800" i="1" noProof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Verlagert sich </a:t>
            </a:r>
            <a:r>
              <a:rPr lang="de-CH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der </a:t>
            </a:r>
            <a:r>
              <a:rPr lang="de-CH" sz="1800" i="1" noProof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Verkehr bei steigenden Benzinpreisen vom motorisierten Individualverkehr zum</a:t>
            </a:r>
            <a:r>
              <a:rPr lang="de-CH" i="1" noProof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öffentlichen Verkehr</a:t>
            </a:r>
            <a:r>
              <a:rPr lang="de-CH" sz="1800" i="1" noProof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?</a:t>
            </a:r>
            <a:endParaRPr lang="de-CH" sz="1800" noProof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5303520"/>
            <a:ext cx="1828800" cy="365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400" noProof="0">
                <a:solidFill>
                  <a:srgbClr val="8F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09 · Master Wirtschaftsinformatik · FS 2026</a:t>
            </a:r>
            <a:endParaRPr lang="de-CH" sz="14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3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de-CH" sz="3200" noProof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600" noProof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Mobilität ist im Umbruch. Klimaziele, steigende Energiepreise und eine wachsende Diskussion über die Rolle des Individualverkehrs prägen die öffentliche Debatte.</a:t>
            </a:r>
            <a:endParaRPr lang="de-CH" sz="1600" noProof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600" noProof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zentrale Frage: Reagiert das Mobilitätsverhalten der Bevölkerung messbar auf Preissignale oder ist der Benzinpreis als Lenkungsinstrument wirkungslos?</a:t>
            </a:r>
            <a:endParaRPr lang="de-CH" sz="1600" noProof="0"/>
          </a:p>
        </p:txBody>
      </p:sp>
      <p:sp>
        <p:nvSpPr>
          <p:cNvPr id="6" name="Shape 4"/>
          <p:cNvSpPr/>
          <p:nvPr/>
        </p:nvSpPr>
        <p:spPr>
          <a:xfrm>
            <a:off x="8229600" y="182880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7" name="Text 5"/>
          <p:cNvSpPr/>
          <p:nvPr/>
        </p:nvSpPr>
        <p:spPr>
          <a:xfrm>
            <a:off x="8229600" y="210312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96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de-CH" sz="9600" noProof="0"/>
          </a:p>
        </p:txBody>
      </p:sp>
      <p:sp>
        <p:nvSpPr>
          <p:cNvPr id="8" name="Text 6"/>
          <p:cNvSpPr/>
          <p:nvPr/>
        </p:nvSpPr>
        <p:spPr>
          <a:xfrm>
            <a:off x="822960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600" noProof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Monate Daten</a:t>
            </a:r>
            <a:endParaRPr lang="de-CH" sz="1600" noProof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400" noProof="0">
                <a:solidFill>
                  <a:srgbClr val="8F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2026</a:t>
            </a:r>
            <a:endParaRPr lang="de-CH" sz="1400" noProof="0"/>
          </a:p>
        </p:txBody>
      </p:sp>
      <p:sp>
        <p:nvSpPr>
          <p:cNvPr id="10" name="Shape 8"/>
          <p:cNvSpPr/>
          <p:nvPr/>
        </p:nvSpPr>
        <p:spPr>
          <a:xfrm>
            <a:off x="8686800" y="4572000"/>
            <a:ext cx="24688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4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Stadt Basel</a:t>
            </a:r>
            <a:endParaRPr lang="de-CH" sz="1400" noProof="0"/>
          </a:p>
        </p:txBody>
      </p:sp>
      <p:sp>
        <p:nvSpPr>
          <p:cNvPr id="12" name="Text 10"/>
          <p:cNvSpPr/>
          <p:nvPr/>
        </p:nvSpPr>
        <p:spPr>
          <a:xfrm>
            <a:off x="8229600" y="5120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200" noProof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Explorative Analyse</a:t>
            </a:r>
            <a:endParaRPr lang="de-CH" sz="1200" noProof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4" name="Text 12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de-CH" sz="1000" noProof="0"/>
          </a:p>
        </p:txBody>
      </p:sp>
      <p:sp>
        <p:nvSpPr>
          <p:cNvPr id="15" name="Text 13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de-CH" sz="1000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3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Fragestellung &amp; Hypothese</a:t>
            </a:r>
            <a:endParaRPr lang="de-CH" sz="3200" noProof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100" b="1" kern="0" spc="200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FRAGE</a:t>
            </a:r>
            <a:endParaRPr lang="de-CH" sz="1100" noProof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de-CH" sz="2200">
                <a:solidFill>
                  <a:srgbClr val="21295C"/>
                </a:solidFill>
                <a:ea typeface="+mn-lt"/>
                <a:cs typeface="+mn-lt"/>
              </a:rPr>
              <a:t>Welche statistischen Zusammenhänge bestehen zwischen Benzinpreisen, ÖV-Nutzung und motorisiertem Individualverkehr in Basel</a:t>
            </a:r>
            <a:r>
              <a:rPr lang="de-CH" sz="2200" noProof="0">
                <a:solidFill>
                  <a:srgbClr val="21295C"/>
                </a:solidFill>
                <a:ea typeface="+mn-lt"/>
                <a:cs typeface="+mn-lt"/>
              </a:rPr>
              <a:t>?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100" b="1" kern="0" spc="200" noProof="0">
                <a:solidFill>
                  <a:srgbClr val="8FB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 H1</a:t>
            </a:r>
            <a:endParaRPr lang="de-CH" sz="1100" noProof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22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Benzinpreise gehen mit einer höheren Nutzung des öffentlichen Verkehrs einher.</a:t>
            </a:r>
            <a:endParaRPr lang="de-CH" sz="2200" noProof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300" i="1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Korrelation, nicht Kausalität · Explorative Analyse</a:t>
            </a:r>
            <a:endParaRPr lang="de-CH" sz="1300" noProof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2" name="Text 10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de-CH" sz="1000" noProof="0"/>
          </a:p>
        </p:txBody>
      </p:sp>
      <p:sp>
        <p:nvSpPr>
          <p:cNvPr id="13" name="Text 11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de-CH" sz="1000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3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 · CPA-Framework</a:t>
            </a:r>
            <a:endParaRPr lang="de-CH" sz="3200" noProof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5" name="Shape 3"/>
          <p:cNvSpPr/>
          <p:nvPr/>
        </p:nvSpPr>
        <p:spPr>
          <a:xfrm>
            <a:off x="132588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6" name="Text 4"/>
          <p:cNvSpPr/>
          <p:nvPr/>
        </p:nvSpPr>
        <p:spPr>
          <a:xfrm>
            <a:off x="1325880" y="217627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2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de-CH" sz="2200" noProof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500" b="1" noProof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</a:t>
            </a:r>
            <a:r>
              <a:rPr lang="de-CH" sz="15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de-CH" sz="1500" b="1" noProof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de-CH" sz="1500" noProof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2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Ziele &amp; Fragestellung definieren</a:t>
            </a:r>
            <a:endParaRPr lang="de-CH" sz="1200" noProof="0"/>
          </a:p>
        </p:txBody>
      </p:sp>
      <p:sp>
        <p:nvSpPr>
          <p:cNvPr id="9" name="Text 7"/>
          <p:cNvSpPr/>
          <p:nvPr/>
        </p:nvSpPr>
        <p:spPr>
          <a:xfrm>
            <a:off x="685800" y="5532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8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CH" sz="1800" noProof="0"/>
          </a:p>
        </p:txBody>
      </p:sp>
      <p:sp>
        <p:nvSpPr>
          <p:cNvPr id="10" name="Shape 8"/>
          <p:cNvSpPr/>
          <p:nvPr/>
        </p:nvSpPr>
        <p:spPr>
          <a:xfrm>
            <a:off x="2880360" y="182880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2" name="Text 10"/>
          <p:cNvSpPr/>
          <p:nvPr/>
        </p:nvSpPr>
        <p:spPr>
          <a:xfrm>
            <a:off x="3657600" y="217627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2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de-CH" sz="2200" noProof="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500" b="1" noProof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</a:t>
            </a:r>
            <a:r>
              <a:rPr lang="de-CH" sz="15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</a:t>
            </a:r>
            <a:endParaRPr lang="de-CH" sz="1500" noProof="0"/>
          </a:p>
        </p:txBody>
      </p:sp>
      <p:sp>
        <p:nvSpPr>
          <p:cNvPr id="14" name="Text 12"/>
          <p:cNvSpPr/>
          <p:nvPr/>
        </p:nvSpPr>
        <p:spPr>
          <a:xfrm>
            <a:off x="3017520" y="3840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2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Datenquellen automatisiert laden</a:t>
            </a:r>
            <a:endParaRPr lang="de-CH" sz="1200" noProof="0"/>
          </a:p>
        </p:txBody>
      </p:sp>
      <p:sp>
        <p:nvSpPr>
          <p:cNvPr id="15" name="Text 13"/>
          <p:cNvSpPr/>
          <p:nvPr/>
        </p:nvSpPr>
        <p:spPr>
          <a:xfrm>
            <a:off x="3017520" y="5532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8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CH" sz="1800" noProof="0"/>
          </a:p>
        </p:txBody>
      </p:sp>
      <p:sp>
        <p:nvSpPr>
          <p:cNvPr id="16" name="Shape 14"/>
          <p:cNvSpPr/>
          <p:nvPr/>
        </p:nvSpPr>
        <p:spPr>
          <a:xfrm>
            <a:off x="5212080" y="182880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7" name="Shape 15"/>
          <p:cNvSpPr/>
          <p:nvPr/>
        </p:nvSpPr>
        <p:spPr>
          <a:xfrm>
            <a:off x="598932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8" name="Text 16"/>
          <p:cNvSpPr/>
          <p:nvPr/>
        </p:nvSpPr>
        <p:spPr>
          <a:xfrm>
            <a:off x="5989320" y="217627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2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de-CH" sz="2200" noProof="0"/>
          </a:p>
        </p:txBody>
      </p:sp>
      <p:sp>
        <p:nvSpPr>
          <p:cNvPr id="19" name="Text 17"/>
          <p:cNvSpPr/>
          <p:nvPr/>
        </p:nvSpPr>
        <p:spPr>
          <a:xfrm>
            <a:off x="534924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500" b="1" noProof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</a:t>
            </a:r>
            <a:r>
              <a:rPr lang="de-CH" sz="15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</a:t>
            </a:r>
            <a:endParaRPr lang="de-CH" sz="1500" noProof="0"/>
          </a:p>
        </p:txBody>
      </p:sp>
      <p:sp>
        <p:nvSpPr>
          <p:cNvPr id="20" name="Text 18"/>
          <p:cNvSpPr/>
          <p:nvPr/>
        </p:nvSpPr>
        <p:spPr>
          <a:xfrm>
            <a:off x="5349240" y="3840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2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Korrelation, Regression</a:t>
            </a:r>
            <a:endParaRPr lang="de-CH" sz="1200" noProof="0"/>
          </a:p>
        </p:txBody>
      </p:sp>
      <p:sp>
        <p:nvSpPr>
          <p:cNvPr id="21" name="Text 19"/>
          <p:cNvSpPr/>
          <p:nvPr/>
        </p:nvSpPr>
        <p:spPr>
          <a:xfrm>
            <a:off x="5349240" y="5532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8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CH" sz="1800" noProof="0"/>
          </a:p>
        </p:txBody>
      </p:sp>
      <p:sp>
        <p:nvSpPr>
          <p:cNvPr id="22" name="Shape 20"/>
          <p:cNvSpPr/>
          <p:nvPr/>
        </p:nvSpPr>
        <p:spPr>
          <a:xfrm>
            <a:off x="7543800" y="182880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23" name="Shape 21"/>
          <p:cNvSpPr/>
          <p:nvPr/>
        </p:nvSpPr>
        <p:spPr>
          <a:xfrm>
            <a:off x="832104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24" name="Text 22"/>
          <p:cNvSpPr/>
          <p:nvPr/>
        </p:nvSpPr>
        <p:spPr>
          <a:xfrm>
            <a:off x="8321040" y="217627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2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de-CH" sz="2200" noProof="0"/>
          </a:p>
        </p:txBody>
      </p:sp>
      <p:sp>
        <p:nvSpPr>
          <p:cNvPr id="25" name="Text 23"/>
          <p:cNvSpPr/>
          <p:nvPr/>
        </p:nvSpPr>
        <p:spPr>
          <a:xfrm>
            <a:off x="768096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500" b="1" noProof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</a:t>
            </a:r>
            <a:r>
              <a:rPr lang="de-CH" sz="15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Info</a:t>
            </a:r>
            <a:endParaRPr lang="de-CH" sz="1500" noProof="0"/>
          </a:p>
        </p:txBody>
      </p:sp>
      <p:sp>
        <p:nvSpPr>
          <p:cNvPr id="26" name="Text 24"/>
          <p:cNvSpPr/>
          <p:nvPr/>
        </p:nvSpPr>
        <p:spPr>
          <a:xfrm>
            <a:off x="7680960" y="3840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2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Manager-taugliche Ergebnisse</a:t>
            </a:r>
            <a:endParaRPr lang="de-CH" sz="1200" noProof="0"/>
          </a:p>
        </p:txBody>
      </p:sp>
      <p:sp>
        <p:nvSpPr>
          <p:cNvPr id="27" name="Text 25"/>
          <p:cNvSpPr/>
          <p:nvPr/>
        </p:nvSpPr>
        <p:spPr>
          <a:xfrm>
            <a:off x="7680960" y="553212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8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de-CH" sz="1800" noProof="0"/>
          </a:p>
        </p:txBody>
      </p:sp>
      <p:sp>
        <p:nvSpPr>
          <p:cNvPr id="28" name="Shape 26"/>
          <p:cNvSpPr/>
          <p:nvPr/>
        </p:nvSpPr>
        <p:spPr>
          <a:xfrm>
            <a:off x="9875520" y="1828800"/>
            <a:ext cx="2148840" cy="4206240"/>
          </a:xfrm>
          <a:prstGeom prst="roundRect">
            <a:avLst>
              <a:gd name="adj" fmla="val 4255"/>
            </a:avLst>
          </a:prstGeom>
          <a:solidFill>
            <a:srgbClr val="D5DBE4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29" name="Shape 27"/>
          <p:cNvSpPr/>
          <p:nvPr/>
        </p:nvSpPr>
        <p:spPr>
          <a:xfrm>
            <a:off x="10652760" y="2148840"/>
            <a:ext cx="594360" cy="594360"/>
          </a:xfrm>
          <a:prstGeom prst="ellipse">
            <a:avLst/>
          </a:prstGeom>
          <a:solidFill>
            <a:srgbClr val="7A8FA6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30" name="Text 28"/>
          <p:cNvSpPr/>
          <p:nvPr/>
        </p:nvSpPr>
        <p:spPr>
          <a:xfrm>
            <a:off x="10652760" y="2176272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200" b="1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de-CH" sz="2200" noProof="0"/>
          </a:p>
        </p:txBody>
      </p:sp>
      <p:sp>
        <p:nvSpPr>
          <p:cNvPr id="31" name="Text 29"/>
          <p:cNvSpPr/>
          <p:nvPr/>
        </p:nvSpPr>
        <p:spPr>
          <a:xfrm>
            <a:off x="1001268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500" b="1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</a:t>
            </a:r>
            <a:r>
              <a:rPr lang="de-CH" sz="1500" b="1" noProof="0" err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de-CH" sz="1500" noProof="0"/>
          </a:p>
        </p:txBody>
      </p:sp>
      <p:sp>
        <p:nvSpPr>
          <p:cNvPr id="32" name="Text 30"/>
          <p:cNvSpPr/>
          <p:nvPr/>
        </p:nvSpPr>
        <p:spPr>
          <a:xfrm>
            <a:off x="10012680" y="384048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2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Ausserhalb Case-Study-</a:t>
            </a:r>
            <a:r>
              <a:rPr lang="de-CH" sz="1200" noProof="0" err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de-CH" sz="1200" noProof="0"/>
          </a:p>
        </p:txBody>
      </p:sp>
      <p:sp>
        <p:nvSpPr>
          <p:cNvPr id="33" name="Shape 3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34" name="Text 32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de-CH" sz="1000" noProof="0"/>
          </a:p>
        </p:txBody>
      </p:sp>
      <p:sp>
        <p:nvSpPr>
          <p:cNvPr id="35" name="Text 33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de-CH" sz="1000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3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Datengrundlage</a:t>
            </a:r>
            <a:endParaRPr lang="de-CH" sz="3200" noProof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57600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2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ÖV-Nutzung</a:t>
            </a:r>
            <a:endParaRPr lang="de-CH" sz="2200" noProof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400" noProof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Fahrgastzahlen BVB</a:t>
            </a:r>
            <a:endParaRPr lang="de-CH" sz="1400" noProof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3108960" cy="0"/>
          </a:xfrm>
          <a:prstGeom prst="line">
            <a:avLst/>
          </a:prstGeom>
          <a:noFill/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b="1" kern="0" spc="1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de-CH" sz="1000" noProof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300" noProof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Basel-Stadt</a:t>
            </a:r>
            <a:endParaRPr lang="de-CH" sz="1300" noProof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b="1" kern="0" spc="1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</a:t>
            </a:r>
            <a:endParaRPr lang="de-CH" sz="1000" noProof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6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Monate</a:t>
            </a:r>
            <a:endParaRPr lang="de-CH" sz="1600" noProof="0"/>
          </a:p>
        </p:txBody>
      </p:sp>
      <p:sp>
        <p:nvSpPr>
          <p:cNvPr id="13" name="Shape 11"/>
          <p:cNvSpPr/>
          <p:nvPr/>
        </p:nvSpPr>
        <p:spPr>
          <a:xfrm>
            <a:off x="4434840" y="173736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14" name="Shape 12"/>
          <p:cNvSpPr/>
          <p:nvPr/>
        </p:nvSpPr>
        <p:spPr>
          <a:xfrm>
            <a:off x="4434840" y="1737360"/>
            <a:ext cx="3657600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2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Benzinpreise</a:t>
            </a:r>
            <a:endParaRPr lang="de-CH" sz="2200" noProof="0"/>
          </a:p>
        </p:txBody>
      </p:sp>
      <p:sp>
        <p:nvSpPr>
          <p:cNvPr id="16" name="Text 14"/>
          <p:cNvSpPr/>
          <p:nvPr/>
        </p:nvSpPr>
        <p:spPr>
          <a:xfrm>
            <a:off x="47091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400" noProof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Bleifrei 95, CHF/Liter</a:t>
            </a:r>
            <a:endParaRPr lang="de-CH" sz="1400" noProof="0"/>
          </a:p>
        </p:txBody>
      </p:sp>
      <p:sp>
        <p:nvSpPr>
          <p:cNvPr id="17" name="Shape 15"/>
          <p:cNvSpPr/>
          <p:nvPr/>
        </p:nvSpPr>
        <p:spPr>
          <a:xfrm>
            <a:off x="4709160" y="3108960"/>
            <a:ext cx="3108960" cy="0"/>
          </a:xfrm>
          <a:prstGeom prst="line">
            <a:avLst/>
          </a:prstGeom>
          <a:noFill/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18" name="Text 16"/>
          <p:cNvSpPr/>
          <p:nvPr/>
        </p:nvSpPr>
        <p:spPr>
          <a:xfrm>
            <a:off x="470916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b="1" kern="0" spc="1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de-CH" sz="1000" noProof="0"/>
          </a:p>
        </p:txBody>
      </p:sp>
      <p:sp>
        <p:nvSpPr>
          <p:cNvPr id="19" name="Text 17"/>
          <p:cNvSpPr/>
          <p:nvPr/>
        </p:nvSpPr>
        <p:spPr>
          <a:xfrm>
            <a:off x="470916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300" noProof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Bundesamt für Statistik</a:t>
            </a:r>
            <a:endParaRPr lang="de-CH" sz="1300" noProof="0"/>
          </a:p>
        </p:txBody>
      </p:sp>
      <p:sp>
        <p:nvSpPr>
          <p:cNvPr id="20" name="Text 18"/>
          <p:cNvSpPr/>
          <p:nvPr/>
        </p:nvSpPr>
        <p:spPr>
          <a:xfrm>
            <a:off x="470916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b="1" kern="0" spc="1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</a:t>
            </a:r>
            <a:endParaRPr lang="de-CH" sz="1000" noProof="0"/>
          </a:p>
        </p:txBody>
      </p:sp>
      <p:sp>
        <p:nvSpPr>
          <p:cNvPr id="21" name="Text 19"/>
          <p:cNvSpPr/>
          <p:nvPr/>
        </p:nvSpPr>
        <p:spPr>
          <a:xfrm>
            <a:off x="47091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6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Monate</a:t>
            </a:r>
            <a:endParaRPr lang="de-CH" sz="1600" noProof="0"/>
          </a:p>
        </p:txBody>
      </p:sp>
      <p:sp>
        <p:nvSpPr>
          <p:cNvPr id="22" name="Shape 20"/>
          <p:cNvSpPr/>
          <p:nvPr/>
        </p:nvSpPr>
        <p:spPr>
          <a:xfrm>
            <a:off x="8321040" y="1737360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23" name="Shape 21"/>
          <p:cNvSpPr/>
          <p:nvPr/>
        </p:nvSpPr>
        <p:spPr>
          <a:xfrm>
            <a:off x="8321040" y="1737360"/>
            <a:ext cx="3657600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24" name="Text 22"/>
          <p:cNvSpPr/>
          <p:nvPr/>
        </p:nvSpPr>
        <p:spPr>
          <a:xfrm>
            <a:off x="859536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2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MIV-Verkehr</a:t>
            </a:r>
            <a:endParaRPr lang="de-CH" sz="2200" noProof="0"/>
          </a:p>
        </p:txBody>
      </p:sp>
      <p:sp>
        <p:nvSpPr>
          <p:cNvPr id="25" name="Text 23"/>
          <p:cNvSpPr/>
          <p:nvPr/>
        </p:nvSpPr>
        <p:spPr>
          <a:xfrm>
            <a:off x="85953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400" noProof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Stündlicher Verkehr, aggregiert</a:t>
            </a:r>
            <a:endParaRPr lang="de-CH" sz="1400" noProof="0"/>
          </a:p>
        </p:txBody>
      </p:sp>
      <p:sp>
        <p:nvSpPr>
          <p:cNvPr id="26" name="Shape 24"/>
          <p:cNvSpPr/>
          <p:nvPr/>
        </p:nvSpPr>
        <p:spPr>
          <a:xfrm>
            <a:off x="8595360" y="3108960"/>
            <a:ext cx="3108960" cy="0"/>
          </a:xfrm>
          <a:prstGeom prst="line">
            <a:avLst/>
          </a:prstGeom>
          <a:noFill/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27" name="Text 25"/>
          <p:cNvSpPr/>
          <p:nvPr/>
        </p:nvSpPr>
        <p:spPr>
          <a:xfrm>
            <a:off x="8595360" y="3246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b="1" kern="0" spc="1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</a:t>
            </a:r>
            <a:endParaRPr lang="de-CH" sz="1000" noProof="0"/>
          </a:p>
        </p:txBody>
      </p:sp>
      <p:sp>
        <p:nvSpPr>
          <p:cNvPr id="28" name="Text 26"/>
          <p:cNvSpPr/>
          <p:nvPr/>
        </p:nvSpPr>
        <p:spPr>
          <a:xfrm>
            <a:off x="8595360" y="3520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300" noProof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Basel-Stadt</a:t>
            </a:r>
            <a:endParaRPr lang="de-CH" sz="1300" noProof="0"/>
          </a:p>
        </p:txBody>
      </p:sp>
      <p:sp>
        <p:nvSpPr>
          <p:cNvPr id="29" name="Text 27"/>
          <p:cNvSpPr/>
          <p:nvPr/>
        </p:nvSpPr>
        <p:spPr>
          <a:xfrm>
            <a:off x="8595360" y="4023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b="1" kern="0" spc="100" noProof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UMFANG</a:t>
            </a:r>
            <a:endParaRPr lang="de-CH" sz="1000" noProof="0"/>
          </a:p>
        </p:txBody>
      </p:sp>
      <p:sp>
        <p:nvSpPr>
          <p:cNvPr id="30" name="Text 28"/>
          <p:cNvSpPr/>
          <p:nvPr/>
        </p:nvSpPr>
        <p:spPr>
          <a:xfrm>
            <a:off x="859536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600" b="1" noProof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Monate</a:t>
            </a:r>
            <a:endParaRPr lang="de-CH" sz="1600" noProof="0"/>
          </a:p>
        </p:txBody>
      </p:sp>
      <p:sp>
        <p:nvSpPr>
          <p:cNvPr id="31" name="Text 29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1300" b="1" i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Gemeinsamer Analysezeitraum nach Integration: Januar 2020 – Februar 2026 (74 Monatswerte)</a:t>
            </a:r>
            <a:endParaRPr lang="de-CH" sz="1300" noProof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33" name="Text 31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de-CH" sz="1000" noProof="0"/>
          </a:p>
        </p:txBody>
      </p:sp>
      <p:sp>
        <p:nvSpPr>
          <p:cNvPr id="34" name="Text 32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de-CH" sz="1000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32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· Worauf wir stolz sind</a:t>
            </a:r>
            <a:endParaRPr lang="de-CH" sz="3200" noProof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8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de-CH" sz="2800" noProof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8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Reproduzierbare Pipeline</a:t>
            </a:r>
            <a:endParaRPr lang="de-CH" sz="1800" noProof="0"/>
          </a:p>
        </p:txBody>
      </p:sp>
      <p:sp>
        <p:nvSpPr>
          <p:cNvPr id="8" name="Text 6"/>
          <p:cNvSpPr/>
          <p:nvPr/>
        </p:nvSpPr>
        <p:spPr>
          <a:xfrm>
            <a:off x="1920240" y="24231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300" noProof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Datenquellen werden automatisiert per API geladen — kein manueller Download, jederzeit aktualisierbar.</a:t>
            </a:r>
            <a:endParaRPr lang="de-CH" sz="1300" noProof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8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de-CH" sz="2800" noProof="0"/>
          </a:p>
        </p:txBody>
      </p:sp>
      <p:sp>
        <p:nvSpPr>
          <p:cNvPr id="12" name="Text 10"/>
          <p:cNvSpPr/>
          <p:nvPr/>
        </p:nvSpPr>
        <p:spPr>
          <a:xfrm>
            <a:off x="1920240" y="35204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8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Datenaufbereitung</a:t>
            </a:r>
            <a:endParaRPr lang="de-CH" sz="1800" noProof="0"/>
          </a:p>
        </p:txBody>
      </p:sp>
      <p:sp>
        <p:nvSpPr>
          <p:cNvPr id="13" name="Text 11"/>
          <p:cNvSpPr/>
          <p:nvPr/>
        </p:nvSpPr>
        <p:spPr>
          <a:xfrm>
            <a:off x="1920240" y="3977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300" noProof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Unterschiedliche Formate (XML-Excel, Mehrzeilen-Header, stündliche Rohdaten) wurden zu einem konsistenten Monatsdatensatz harmonisiert.</a:t>
            </a:r>
            <a:endParaRPr lang="de-CH" sz="1300" noProof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BE4"/>
            </a:solidFill>
            <a:prstDash val="solid"/>
          </a:ln>
        </p:spPr>
        <p:txBody>
          <a:bodyPr/>
          <a:lstStyle/>
          <a:p>
            <a:endParaRPr lang="de-CH" noProof="0"/>
          </a:p>
        </p:txBody>
      </p:sp>
      <p:sp>
        <p:nvSpPr>
          <p:cNvPr id="15" name="Shape 13"/>
          <p:cNvSpPr/>
          <p:nvPr/>
        </p:nvSpPr>
        <p:spPr>
          <a:xfrm>
            <a:off x="822960" y="5120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de-CH" sz="28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de-CH" sz="2800" noProof="0"/>
          </a:p>
        </p:txBody>
      </p:sp>
      <p:sp>
        <p:nvSpPr>
          <p:cNvPr id="17" name="Text 15"/>
          <p:cNvSpPr/>
          <p:nvPr/>
        </p:nvSpPr>
        <p:spPr>
          <a:xfrm>
            <a:off x="1920240" y="50749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800" b="1" noProof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Kritische Interpretation</a:t>
            </a:r>
            <a:endParaRPr lang="de-CH" sz="1800" noProof="0"/>
          </a:p>
        </p:txBody>
      </p:sp>
      <p:sp>
        <p:nvSpPr>
          <p:cNvPr id="18" name="Text 16"/>
          <p:cNvSpPr/>
          <p:nvPr/>
        </p:nvSpPr>
        <p:spPr>
          <a:xfrm>
            <a:off x="1920240" y="55321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CH" sz="13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Ergebnis widersprach unserer Erwartung. Statt es zu ignorieren, haben wir erklärt, warum es entstanden ist.</a:t>
            </a:r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 noProof="0"/>
          </a:p>
        </p:txBody>
      </p:sp>
      <p:sp>
        <p:nvSpPr>
          <p:cNvPr id="20" name="Text 18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de-CH" sz="1000" noProof="0"/>
          </a:p>
        </p:txBody>
      </p:sp>
      <p:sp>
        <p:nvSpPr>
          <p:cNvPr id="21" name="Text 19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de-CH" sz="1000" noProof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de-CH" sz="1000" noProof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· Korrelationen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Pearson-Korrelationen zwischen den drei Kernvariablen im gemeinsamen Zeitraum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8000"/>
          </a:p>
        </p:txBody>
      </p:sp>
      <p:sp>
        <p:nvSpPr>
          <p:cNvPr id="7" name="Shape 5"/>
          <p:cNvSpPr/>
          <p:nvPr/>
        </p:nvSpPr>
        <p:spPr>
          <a:xfrm>
            <a:off x="1463040" y="3977640"/>
            <a:ext cx="18288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Benzinpreis ↔ ÖV-Nutzung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731520" y="4663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 positiv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434840" y="19202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43484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</a:t>
            </a:r>
            <a:endParaRPr lang="en-US" sz="8000"/>
          </a:p>
        </p:txBody>
      </p:sp>
      <p:sp>
        <p:nvSpPr>
          <p:cNvPr id="12" name="Shape 10"/>
          <p:cNvSpPr/>
          <p:nvPr/>
        </p:nvSpPr>
        <p:spPr>
          <a:xfrm>
            <a:off x="5349240" y="3977640"/>
            <a:ext cx="1828800" cy="0"/>
          </a:xfrm>
          <a:prstGeom prst="line">
            <a:avLst/>
          </a:prstGeom>
          <a:noFill/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461772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Benzinpreis ↔ MIV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4617720" y="4663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 positiv — unerwartet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8321040" y="21945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8000"/>
          </a:p>
        </p:txBody>
      </p:sp>
      <p:sp>
        <p:nvSpPr>
          <p:cNvPr id="17" name="Shape 15"/>
          <p:cNvSpPr/>
          <p:nvPr/>
        </p:nvSpPr>
        <p:spPr>
          <a:xfrm>
            <a:off x="9235440" y="3977640"/>
            <a:ext cx="1828800" cy="0"/>
          </a:xfrm>
          <a:prstGeom prst="line">
            <a:avLst/>
          </a:prstGeom>
          <a:noFill/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8503920" y="4160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ÖV-Nutzung ↔ MIV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 positiv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74 Monatswerte, Januar 2020 – Februar 2026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FED219-B72A-C3B6-69C9-2E3B91DF3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71CC313-2BA8-EC34-348D-B589BFC239BB}"/>
              </a:ext>
            </a:extLst>
          </p:cNvPr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200" b="1" dirty="0" err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Ergebnisse</a:t>
            </a:r>
            <a:r>
              <a:rPr lang="en-US" sz="32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en-US" sz="3200" b="1" dirty="0" err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Normierter</a:t>
            </a:r>
            <a:r>
              <a:rPr lang="en-US" sz="32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3200" b="1" dirty="0" err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Verlaufsvergleich</a:t>
            </a:r>
            <a:endParaRPr lang="en-US" sz="3200" dirty="0" err="1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55BA4CD-E479-284E-6E13-28B9D95DBE0D}"/>
              </a:ext>
            </a:extLst>
          </p:cNvPr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F080964-6FF9-C411-C412-A24BBB32F18D}"/>
              </a:ext>
            </a:extLst>
          </p:cNvPr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EE28CFE-6A08-D73D-3C2D-913B26CC92AE}"/>
              </a:ext>
            </a:extLst>
          </p:cNvPr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en-US" sz="10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47C7F4E-5A09-08B4-FAE0-3B98ACDC3ECE}"/>
              </a:ext>
            </a:extLst>
          </p:cNvPr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/>
          </a:p>
        </p:txBody>
      </p:sp>
      <p:pic>
        <p:nvPicPr>
          <p:cNvPr id="24" name="Picture 23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E225BBEF-B459-1330-4134-381812184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98" y="1831194"/>
            <a:ext cx="8630333" cy="4651168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86E51310-C0F9-49BE-98E0-FEC561B0D6B8}"/>
              </a:ext>
            </a:extLst>
          </p:cNvPr>
          <p:cNvSpPr/>
          <p:nvPr/>
        </p:nvSpPr>
        <p:spPr>
          <a:xfrm>
            <a:off x="455965" y="1318297"/>
            <a:ext cx="4757169" cy="3993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i="1" dirty="0">
                <a:solidFill>
                  <a:srgbClr val="7A8FA6"/>
                </a:solidFill>
                <a:latin typeface="Calibri"/>
                <a:ea typeface="Calibri"/>
                <a:cs typeface="Calibri"/>
              </a:rPr>
              <a:t>COVID Lockdown:  13-20 März 2020</a:t>
            </a:r>
            <a:br>
              <a:rPr lang="en-US" sz="1400" i="1" dirty="0">
                <a:solidFill>
                  <a:srgbClr val="7A8FA6"/>
                </a:solidFill>
                <a:latin typeface="Calibri"/>
                <a:ea typeface="Calibri"/>
                <a:cs typeface="Calibri"/>
              </a:rPr>
            </a:br>
            <a:r>
              <a:rPr lang="en-US" sz="1400" i="1" dirty="0">
                <a:solidFill>
                  <a:srgbClr val="7A8FA6"/>
                </a:solidFill>
                <a:ea typeface="Calibri"/>
                <a:cs typeface="Calibri"/>
              </a:rPr>
              <a:t>Angriff USA &gt; Iran:   28 </a:t>
            </a:r>
            <a:r>
              <a:rPr lang="en-US" sz="1400" i="1" dirty="0" err="1">
                <a:solidFill>
                  <a:srgbClr val="7A8FA6"/>
                </a:solidFill>
                <a:ea typeface="Calibri"/>
                <a:cs typeface="Calibri"/>
              </a:rPr>
              <a:t>Februar</a:t>
            </a:r>
            <a:r>
              <a:rPr lang="en-US" sz="1400" i="1" dirty="0">
                <a:solidFill>
                  <a:srgbClr val="7A8FA6"/>
                </a:solidFill>
                <a:ea typeface="Calibri"/>
                <a:cs typeface="Calibri"/>
              </a:rPr>
              <a:t> 2026 (</a:t>
            </a:r>
            <a:r>
              <a:rPr lang="en-US" sz="1400" i="1" dirty="0" err="1">
                <a:solidFill>
                  <a:srgbClr val="7A8FA6"/>
                </a:solidFill>
                <a:ea typeface="Calibri"/>
                <a:cs typeface="Calibri"/>
              </a:rPr>
              <a:t>noch</a:t>
            </a:r>
            <a:r>
              <a:rPr lang="en-US" sz="1400" i="1" dirty="0">
                <a:solidFill>
                  <a:srgbClr val="7A8FA6"/>
                </a:solidFill>
                <a:ea typeface="Calibri"/>
                <a:cs typeface="Calibri"/>
              </a:rPr>
              <a:t> nicht </a:t>
            </a:r>
            <a:r>
              <a:rPr lang="en-US" sz="1400" i="1" dirty="0" err="1">
                <a:solidFill>
                  <a:srgbClr val="7A8FA6"/>
                </a:solidFill>
                <a:ea typeface="Calibri"/>
                <a:cs typeface="Calibri"/>
              </a:rPr>
              <a:t>ersichtlich</a:t>
            </a:r>
            <a:r>
              <a:rPr lang="en-US" sz="1400" i="1" dirty="0">
                <a:solidFill>
                  <a:srgbClr val="7A8FA6"/>
                </a:solidFill>
                <a:ea typeface="Calibri"/>
                <a:cs typeface="Calibri"/>
              </a:rPr>
              <a:t>)</a:t>
            </a:r>
            <a:endParaRPr lang="en-US" sz="1400" i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200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MIV-Paradox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BEOBACHTUNG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der MIV steigt, wenn der Benzinpreis steigt.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Regression zeigt einen signifikant positiven Zusammenhang zwischen Benzinpreis und MIV. Das widerspricht der ökonomischen Intuition.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0.22   ·   p &lt; 0.001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6583680" y="21945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Scheinkorrelation durch COVID-Erholung.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6583680" y="32918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2020 stiegen sowohl Benzinpreise als auch </a:t>
            </a:r>
            <a:r>
              <a:rPr lang="en-US" sz="140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Mobilität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</a:t>
            </a:r>
            <a:r>
              <a:rPr lang="en-US" sz="1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Weil sich das gesamte System von der Pandemie erholte, nicht weil der Preis den Verkehr antrieb.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58368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Ein klassischer Confounder</a:t>
            </a:r>
            <a:endParaRPr lang="en-US" sz="160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den Manager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Benzinpreis ist KEIN wirksamer Hebel zur Mobilitätslenkung in Basel.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1554480" y="3108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Schwacher Effekt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155448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Benzinpreis erklärt nur ~20 % der Schwankungen in ÖV und MIV.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155448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Substitutions­effekt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Steigende Preise führen nicht messbar zu einer Verlagerung vom Auto zum ÖV.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548640" y="5212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155448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Faktoren dominieren</a:t>
            </a:r>
            <a:endParaRPr lang="en-US" sz="1600"/>
          </a:p>
        </p:txBody>
      </p:sp>
      <p:sp>
        <p:nvSpPr>
          <p:cNvPr id="17" name="Text 15"/>
          <p:cNvSpPr/>
          <p:nvPr/>
        </p:nvSpPr>
        <p:spPr>
          <a:xfrm>
            <a:off x="1554480" y="5577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COVID-Erholung, saisonale Effekte und Homeoffice-Trends wirken stärker als der Preis.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Limitationen &amp; Ausblick</a:t>
            </a:r>
            <a:endParaRPr lang="en-US" sz="320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LIMITATIONEN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73152" cy="5486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COVID-Strukturbruch beeinflusst die gesamte Zeitreihe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73152" cy="5486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 Autokorrelation der Residuen → p-Werte nur eingeschränkt belastbar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73152" cy="5486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drei Variablen betrachtet — Wetter, Tarife und Homeoffice nicht kontrolliert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73152" cy="5486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Basel — keine Generalisierung auf andere Städte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640080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MÖGLICHER AUSBLICK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400800" y="2148840"/>
            <a:ext cx="73152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675120" y="21031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Modelle mit Wetter-, Tarif- und Kalenderdaten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6400800" y="2926080"/>
            <a:ext cx="73152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675120" y="2880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Zeitreihenmodelle mit explizitem COVID-Break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6400800" y="3703320"/>
            <a:ext cx="73152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mit Zürich, Bern oder Genf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6400800" y="4480560"/>
            <a:ext cx="73152" cy="5486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675120" y="443484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Betrachtung längerer Zeiträume vor 2020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457200" y="665683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 Case Study · Benzinpreise &amp; Mobilität Basel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11247120" y="66568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44</cp:revision>
  <dcterms:created xsi:type="dcterms:W3CDTF">2026-04-11T08:46:27Z</dcterms:created>
  <dcterms:modified xsi:type="dcterms:W3CDTF">2026-04-12T12:46:30Z</dcterms:modified>
</cp:coreProperties>
</file>